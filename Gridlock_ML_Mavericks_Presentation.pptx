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chemeClr val="tx2"/>
                </a:solidFill>
              </a:rPr>
              <a:t>Grid Unlock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601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0" i="0">
                <a:solidFill>
                  <a:srgbClr val="38BDF8"/>
                </a:solidFill>
                <a:latin typeface="Arial"/>
              </a:defRPr>
            </a:pPr>
            <a:r>
              <a:rPr dirty="0"/>
              <a:t>Real-Time Event Congestion Command Center for Bengaluru Traffic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1">
                <a:solidFill>
                  <a:srgbClr val="64748B"/>
                </a:solidFill>
                <a:latin typeface="Arial"/>
              </a:defRPr>
            </a:pPr>
            <a:r>
              <a:t>Powered by BTP ASTraM Data &amp; 6 Specialized Machine Learning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60120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TEAM: THE ML MAVERI</a:t>
            </a:r>
            <a:r>
              <a:rPr lang="en-IN" dirty="0">
                <a:solidFill>
                  <a:schemeClr val="tx2"/>
                </a:solidFill>
              </a:rPr>
              <a:t>C</a:t>
            </a:r>
            <a:r>
              <a:rPr dirty="0">
                <a:solidFill>
                  <a:schemeClr val="tx2"/>
                </a:solidFill>
              </a:rPr>
              <a:t>S</a:t>
            </a:r>
            <a:br>
              <a:rPr dirty="0">
                <a:solidFill>
                  <a:schemeClr val="tx2"/>
                </a:solidFill>
              </a:rPr>
            </a:br>
            <a:r>
              <a:rPr dirty="0" err="1">
                <a:solidFill>
                  <a:schemeClr val="tx2"/>
                </a:solidFill>
              </a:rPr>
              <a:t>Eaknath</a:t>
            </a:r>
            <a:r>
              <a:rPr dirty="0">
                <a:solidFill>
                  <a:schemeClr val="tx2"/>
                </a:solidFill>
              </a:rPr>
              <a:t> M S (Lead)  |  Ashish D  |  Sabarishh P  |  Prasanth Kanaga Sabai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Problem Statement &amp; Operational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t>Operational Challenge</a:t>
            </a:r>
          </a:p>
          <a:p>
            <a:pPr>
              <a:spcAft>
                <a:spcPts val="2400"/>
              </a:spcAft>
              <a:defRPr sz="1400">
                <a:solidFill>
                  <a:srgbClr val="1E293B"/>
                </a:solidFill>
              </a:defRPr>
            </a:pPr>
            <a:r>
              <a:t>Political rallies, festivals, sports events, construction work, and sudden gatherings create localized traffic breakdowns. Bangalore suffers from massive bottlenecks when large-scale events disrupt normal flow, paralyzing key road links.</a:t>
            </a:r>
          </a:p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Problem Statement Direction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How can historical and real-time data be used to forecast event-related traffic impact and recommend optimal manpower, barricading, and diversion plans before gridlock sets 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438912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49440" y="164592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0" y="1783080"/>
            <a:ext cx="40233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01. Event Impact Unquantified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No system exists to forecast congestion duration or severity before an event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08960"/>
            <a:ext cx="438912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310896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3246120"/>
            <a:ext cx="40233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02. Experience-Driven Resources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Deployment of police officers and barricades is handled ad-hoc based on personal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572000"/>
            <a:ext cx="438912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457200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4709160"/>
            <a:ext cx="402336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 i="0">
                <a:solidFill>
                  <a:srgbClr val="1E293B"/>
                </a:solidFill>
                <a:latin typeface="Arial"/>
              </a:defRPr>
            </a:pPr>
            <a:r>
              <a:t>03. No Post-Event Feedback Loop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No structured mechanism to evaluate prediction accuracy and capture ground truth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End-to-End Predict &amp; Command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92024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92024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73736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01 | RAW INPUT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Simulated or Real-Time streams (Bing Maps / TomTom Traffic API). Captured parameters: location, temporal attributes, event cause &amp;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520440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 i="0">
                <a:solidFill>
                  <a:srgbClr val="2563E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94560"/>
            <a:ext cx="192024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2194560"/>
            <a:ext cx="192024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286000"/>
            <a:ext cx="173736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02 | SPATIAL CONTEXT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Remaps coordinates to the nearest of 147 corridors. Retrieves zone, junction names, and evolutionarily critical corridor attributes.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20440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 i="0">
                <a:solidFill>
                  <a:srgbClr val="2563E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194560"/>
            <a:ext cx="192024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2194560"/>
            <a:ext cx="192024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173736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03 | MULTI-MODEL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1752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Passes properties to 6 synchronized ML Models (Random Forests) to classify severity, estimate duration bucket, and calculate resource 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520440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 i="0">
                <a:solidFill>
                  <a:srgbClr val="2563E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2194560"/>
            <a:ext cx="192024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2194560"/>
            <a:ext cx="192024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2286000"/>
            <a:ext cx="173736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04 | DIVERSION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01752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Extracts zone traffic capacity, triggers diversion routing rules, calculates alternate route segments, and designs closure schedules.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20440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 i="0">
                <a:solidFill>
                  <a:srgbClr val="2563E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194560"/>
            <a:ext cx="192024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26880" y="2194560"/>
            <a:ext cx="192024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0" y="2286000"/>
            <a:ext cx="173736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05 | COMMAND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01752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Presents real-time telemetry, map visualizations, deployment plan details, and enables ground truth feedback submission.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rial"/>
              </a:defRPr>
            </a:pPr>
            <a:r>
              <a:t>Fully automated, closed-loop telemetry flow supporting millisecond-latency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Data Processing &amp; Corridor Expansion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t>Scaling from 22 to 147 Mapped Corridors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Challenge: Originally, only 22 named corridors were mapped. More than 6,000 traffic events occurred on roads not recognized by the prediction engine, falling into a generic bucket.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Address-Based Extraction: Designed a Python processing pipeline that extracts the first two comma-separated segments from raw address fields, identifying 562 unique road name candidates.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Filtering &amp; Deduplication: Selected roads with 5+ events (retaining 125 roads) and consolidated misspelled strings (e.g. 'Bannerghatta Main' &amp; 'Bannerghata Main Rd').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• Spatial Mapping: Assigned coordinate centroids and graph nodes to all new corridors. Retrained all ML models with the expanded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0" y="1783080"/>
            <a:ext cx="3749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 i="0">
                <a:solidFill>
                  <a:srgbClr val="2563EB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240280"/>
            <a:ext cx="3749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Total Supported Corridors (21 Named + 125 Extracted + 1 Fallback)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108960"/>
            <a:ext cx="411480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3246120"/>
            <a:ext cx="3749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 i="0">
                <a:solidFill>
                  <a:srgbClr val="2563EB"/>
                </a:solidFill>
                <a:latin typeface="Arial"/>
              </a:defRPr>
            </a:pPr>
            <a:r>
              <a:t>7,532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3703320"/>
            <a:ext cx="3749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Total Processed Dataset Rows (Model training records with spatial coordinate contexts)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572000"/>
            <a:ext cx="4114800" cy="12801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4709160"/>
            <a:ext cx="3749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 i="0">
                <a:solidFill>
                  <a:srgbClr val="2563EB"/>
                </a:solidFill>
                <a:latin typeface="Arial"/>
              </a:defRPr>
            </a:pPr>
            <a:r>
              <a:t>6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166360"/>
            <a:ext cx="37490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Remapped in Codebase (Spatial, routing, optimization, resolver, retraining, server)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The Machine Learning Modeling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A multi-target modeling paradigm built on Scikit-Learn pipelines. Instead of a single model attempting to predict complex categorical labels and numeric resource counts simultaneously, we deploy 6 specialized Random Forest models working in parallel.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1206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2563EB"/>
                </a:solidFill>
                <a:latin typeface="Arial"/>
              </a:defRPr>
            </a:pPr>
            <a:r>
              <a:t>Core Classification Suite (3 Models)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Severity Classifier: </a:t>
            </a:r>
            <a:r>
              <a:rPr b="0"/>
              <a:t>Predicts Low / Medium / High event severity class (76.3% Accuracy). Uses temporal and cause data, avoiding circular target logic.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Duration Classifier: </a:t>
            </a:r>
            <a:r>
              <a:rPr b="0"/>
              <a:t>3-class classifier: short (&lt;1h), medium (1h-12h), extended (&gt;12h) (56.9% accuracy). Trained only on non-imputed actual duration logs.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Road Closure Classifier: </a:t>
            </a:r>
            <a:r>
              <a:rPr b="0"/>
              <a:t>Binary classifier predicting whether a corridor closure is required (84.6% accuracy). Takes temporal, location, and duration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51206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5720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t>Resource Optimization Suite (3 Regressors)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Officer Count Regressor: </a:t>
            </a:r>
            <a:r>
              <a:rPr b="0"/>
              <a:t>Estimates police officers required. Trained on feedback logs. Adapts from rule-based baseline to actual resource deployments (MAE = 2.33).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Barricade Count Regressor: </a:t>
            </a:r>
            <a:r>
              <a:rPr b="0"/>
              <a:t>Predicts number of physical road barricades to dispatch to key deployment coordinates (MAE = 1.74).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• Patrol Vehicle Regressor: </a:t>
            </a:r>
            <a:r>
              <a:rPr b="0"/>
              <a:t>Forecasts optimal patrol vehicles needed for corridor monitoring and diversion management (MAE = 0.68).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ML Detail: Severity Classification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  <a:defRPr sz="1800" b="1" i="0">
                <a:solidFill>
                  <a:srgbClr val="2563EB"/>
                </a:solidFill>
                <a:latin typeface="Arial"/>
              </a:defRPr>
            </a:pPr>
            <a:r>
              <a:t>Pipeline Architecture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Model Type: Random Forest Classifier</a:t>
            </a:r>
            <a:br/>
            <a:r>
              <a:t>• Parameters: 250 Estimators, Max Depth = 12, Class Weight = 'balanced'.</a:t>
            </a:r>
            <a:br/>
            <a:r>
              <a:t>• Feature Preprocessing: Implemented a scikit-learn ColumnTransformer executing Median Imputation on numeric columns, Most-Frequent Imputation on categorical columns, and One-Hot Encoding for string states.</a:t>
            </a:r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Feature Matrix (Inference Inputs)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Categorical Features: event_cause, corridor, zone, police_station, veh_type</a:t>
            </a:r>
            <a:br/>
            <a:r>
              <a:t>• Numeric Features: latitude, longitude, hour, day_of_week, month, is_weekend, expected_attendance</a:t>
            </a:r>
          </a:p>
          <a:p>
            <a:pPr>
              <a:spcAft>
                <a:spcPts val="600"/>
              </a:spcAft>
              <a:defRPr sz="1500" b="1">
                <a:solidFill>
                  <a:srgbClr val="1E293B"/>
                </a:solidFill>
              </a:defRPr>
            </a:pPr>
            <a:r>
              <a:t>Feature Exclusion (Preventing Leakage)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road_closure, priority, and duration_hours are excluded to prevent leakage, as severity labels are mathematically derived from them. This ensures the model learns real spatial-temporal event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0" y="2103120"/>
            <a:ext cx="35661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7200" b="1" i="0">
                <a:solidFill>
                  <a:srgbClr val="38BDF8"/>
                </a:solidFill>
                <a:latin typeface="Arial"/>
              </a:defRPr>
            </a:pPr>
            <a:r>
              <a:t>76.3%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3200400"/>
            <a:ext cx="35661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Severity Classification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3840480"/>
            <a:ext cx="35661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Classification Report Breakdown:</a:t>
            </a:r>
            <a:br/>
            <a:br/>
            <a:r>
              <a:t>• Low Severity: Precision = 82% | Recall = 78%</a:t>
            </a:r>
            <a:br/>
            <a:r>
              <a:t>• Medium Severity: Precision = 71% | Recall = 74%</a:t>
            </a:r>
            <a:br/>
            <a:r>
              <a:t>• High Severity: Precision = 79% | Recall = 79%</a:t>
            </a:r>
            <a:br/>
            <a:br/>
            <a:r>
              <a:t>Stratified Train-Test split (80-20) over 7,532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ML Detail: Road Closure &amp; Duration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t>Road Closure Prediction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Model Type: Random Forest Classifier (Binary)</a:t>
            </a:r>
            <a:br/>
            <a:r>
              <a:t>• Target: 0 (No road closure) or 1 (Road closure required)</a:t>
            </a:r>
            <a:br/>
            <a:r>
              <a:t>• Parameters: 250 Estimators, Max Depth = 12, Class Weight = 'balanced'.</a:t>
            </a:r>
            <a:br/>
            <a:r>
              <a:t>• Features Included: Base features plus predicted event duration hours.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Performance Metric: 84.6% Accuracy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High precision on road closure classification prevents unnecessary traffic alerts. Balanced class weighting corrects the heavily skewed training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t>Duration Bucket Classifier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Model Type: Random Forest Classifier (3-class)</a:t>
            </a:r>
            <a:br/>
            <a:r>
              <a:t>• Classes: short (&lt;1h) / medium (1h-12h) / extended (&gt;12h)</a:t>
            </a:r>
            <a:br/>
            <a:r>
              <a:t>• Non-Imputed Training: Imputed duration records (80% of historical rows, set to a default 8.12h median) were completely stripped to prevent bias. Trained strictly on known, high-quality records.</a:t>
            </a:r>
            <a:br/>
            <a:r>
              <a:t>• Fallback logic: VIP and public event classes automatically default to rule-based baselines as they lacked raw duration entries.</a:t>
            </a:r>
          </a:p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Performance Metric: 56.9% Accuracy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Low overall accuracy is a trade-off for zero bias. Training strictly on non-imputed actuals ensures the model learns true duration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ML Detail: Resource Regressor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Arial"/>
              </a:defRPr>
            </a:pPr>
            <a:r>
              <a:t>Resource allocation is modeled by 3 Random Forest Regressors, which predict the number of officers, barricades, and patrol vehicles needed. The regressors adapt dynamically based on historical feedback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Officer Regressor</a:t>
            </a:r>
            <a:br/>
            <a:r>
              <a:t>• Mean Absolute Error: 2.33</a:t>
            </a:r>
            <a:br/>
            <a:r>
              <a:t>• Key Features: predicted_severity_score, expected_attendance, requires_road_closure, event_cause</a:t>
            </a:r>
            <a:br/>
            <a:r>
              <a:t>• Optimization target: Predicts number of physical officers required at the deployment centroid. Prevents under-staffing at high-impact rallies.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3832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Barricade Regressor</a:t>
            </a:r>
            <a:br/>
            <a:r>
              <a:t>• Mean Absolute Error: 1.74</a:t>
            </a:r>
            <a:br/>
            <a:r>
              <a:t>• Key Features: requires_road_closure, priority, event_cause, zone</a:t>
            </a:r>
            <a:br/>
            <a:r>
              <a:t>• Optimization target: Estimates barricades required to construct diversion checkpoints. Heavy event causes (VIP movement/protest) scale barricade counts drastically.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68880"/>
            <a:ext cx="33832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743200"/>
            <a:ext cx="283464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  <a:defRPr sz="1200" b="1" i="0">
                <a:solidFill>
                  <a:srgbClr val="1E293B"/>
                </a:solidFill>
                <a:latin typeface="Arial"/>
              </a:defRPr>
            </a:pPr>
            <a:r>
              <a:t>Patrol Regressor</a:t>
            </a:r>
            <a:br/>
            <a:r>
              <a:t>• Mean Absolute Error: 0.68</a:t>
            </a:r>
            <a:br/>
            <a:r>
              <a:t>• Key Features: predicted_severity_score, corridor, priority, day_of_week</a:t>
            </a:r>
            <a:br/>
            <a:r>
              <a:t>• Optimization target: Models patrol vehicle deployments for active road monitoring. Ensures patrol dispatch occurs within 0.7 units of true ground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GRID UNLOCK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Arial"/>
              </a:defRPr>
            </a:pPr>
            <a:r>
              <a:t>Closed-Loop Feedback &amp; Continuous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2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t>Bridging the Post-Event Learning Gap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Telemetry Ingestion: Predictions are initially logged in outputs/event_feedback_log.csv. When an event concludes, field officers enter actual ground truth values directly through the dashboard UI.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Automated Pipeline: The UI triggers /api/retrain, which combines historical training records with user-submitted ground truth rows, building a unified training matrix (outputs/retraining_dataset.csv).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Triggered Re-fitting: Calling /api/retrain_resource_model compiles features, executes column transformation, and re-trains the 3 Random Forest Regressors on the new data, instantly saving updated models to outputs/models/.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Dynamic Adaptation: Over time, the model shifts its weights from static pre-configured rules to the actual resource numbers deployed on the streets of Bangalore.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2976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THE CONTINUOUS FEEDBACK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468880"/>
            <a:ext cx="3749040" cy="7315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2542032"/>
            <a:ext cx="3566160" cy="4078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1. ML Prediction Core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Models predict severity, duration, and baseline resource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91840"/>
            <a:ext cx="3749040" cy="7315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3364992"/>
            <a:ext cx="3566160" cy="4078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2. Field Action &amp; Telemetry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Police deployment occurs based on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114800"/>
            <a:ext cx="3749040" cy="7315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4187952"/>
            <a:ext cx="3566160" cy="4078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3. Ground Truth Submission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Actual officers, barricades, and duration logged via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937760"/>
            <a:ext cx="3749040" cy="7315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0" y="5010912"/>
            <a:ext cx="3566160" cy="4078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Re-fit Pipeline Execution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Models are re-fitted, updating regression weights.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Predict. Deploy.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6012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 i="1">
                <a:solidFill>
                  <a:srgbClr val="64748B"/>
                </a:solidFill>
                <a:latin typeface="Arial"/>
              </a:defRPr>
            </a:pPr>
            <a:r>
              <a:t>Grid Unlock Command transforms reactive traffic incident management into a proactive, data-driven command ecosystem. By expanding spatial-temporal resolution to 147 corridors and running 6 parallel ML models, BTP officers are empowered to preempt traffic breakdowns.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4389120" cy="2011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3657600"/>
            <a:ext cx="4023360" cy="77970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PROACTIVE DISPATCH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Predicts exact officer, patrol, and barricade counts per corridor. Optimizes logistics and prevents over-deployment.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4389120" cy="2011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023360" cy="77970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 i="0">
                <a:solidFill>
                  <a:srgbClr val="38BDF8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CLOSED-LOOP EVOLUTION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Models continuously retrain from field feedback. The software adapts to the changing patterns of Bangalore's congestion.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Keep Bengaluru Moving  |  Grid Unlock Command Center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1688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Sabarishh Parthasarathy</cp:lastModifiedBy>
  <cp:revision>4</cp:revision>
  <dcterms:created xsi:type="dcterms:W3CDTF">2013-01-27T09:14:16Z</dcterms:created>
  <dcterms:modified xsi:type="dcterms:W3CDTF">2026-06-21T17:41:11Z</dcterms:modified>
  <cp:category/>
</cp:coreProperties>
</file>