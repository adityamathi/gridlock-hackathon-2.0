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6012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800" b="1" i="0">
                <a:solidFill>
                  <a:srgbClr val="FFFFFF"/>
                </a:solidFill>
                <a:latin typeface="Arial"/>
              </a:defRPr>
            </a:pPr>
            <a:r>
              <a:t>Grid Unlock 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9601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000" b="0" i="0">
                <a:solidFill>
                  <a:srgbClr val="38BDF8"/>
                </a:solidFill>
                <a:latin typeface="Arial"/>
              </a:defRPr>
            </a:pPr>
            <a:r>
              <a:t>Real-Time Event Congestion Command Center for Bengaluru Traffic Police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6012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0" i="1">
                <a:solidFill>
                  <a:srgbClr val="64748B"/>
                </a:solidFill>
                <a:latin typeface="Arial"/>
              </a:defRPr>
            </a:pPr>
            <a:r>
              <a:t>Powered by BTP ASTraM Data &amp; 6 Specialized Machine Learning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120640"/>
            <a:ext cx="9601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t>TEAM: THE ML MAVERICS</a:t>
            </a:r>
            <a:br/>
            <a:r>
              <a:t>Eaknath M S (Lead)  |  Ashish D  |  Sabarishh P  |  Prasanth Kanaga Sabai 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2563EB"/>
                </a:solidFill>
                <a:latin typeface="Arial"/>
              </a:defRPr>
            </a:pPr>
            <a:r>
              <a:t>GRID UNLOCK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 i="0">
                <a:solidFill>
                  <a:srgbClr val="1E293B"/>
                </a:solidFill>
                <a:latin typeface="Arial"/>
              </a:defRPr>
            </a:pPr>
            <a:r>
              <a:t>Problem Statement &amp; Operational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48640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200"/>
              </a:spcAft>
              <a:defRPr sz="2000" b="1" i="0">
                <a:solidFill>
                  <a:srgbClr val="2563EB"/>
                </a:solidFill>
                <a:latin typeface="Arial"/>
              </a:defRPr>
            </a:pPr>
            <a:r>
              <a:t>Operational Challenge</a:t>
            </a:r>
          </a:p>
          <a:p>
            <a:pPr>
              <a:spcAft>
                <a:spcPts val="2400"/>
              </a:spcAft>
              <a:defRPr sz="1400">
                <a:solidFill>
                  <a:srgbClr val="1E293B"/>
                </a:solidFill>
              </a:defRPr>
            </a:pPr>
            <a:r>
              <a:t>Political rallies, festivals, sports events, construction work, and sudden gatherings create localized traffic breakdowns. Bangalore suffers from massive bottlenecks when large-scale events disrupt normal flow, paralyzing key road links.</a:t>
            </a:r>
          </a:p>
          <a:p>
            <a:pPr>
              <a:spcAft>
                <a:spcPts val="1200"/>
              </a:spcAft>
              <a:defRPr sz="2000" b="1">
                <a:solidFill>
                  <a:srgbClr val="2563EB"/>
                </a:solidFill>
              </a:defRPr>
            </a:pPr>
            <a:r>
              <a:t>Problem Statement Direction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How can historical and real-time data be used to forecast event-related traffic impact and recommend optimal manpower, barricading, and diversion plans before gridlock sets in?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645920"/>
            <a:ext cx="438912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949440" y="1645920"/>
            <a:ext cx="109728" cy="1280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23760" y="1783080"/>
            <a:ext cx="402336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 i="0">
                <a:solidFill>
                  <a:srgbClr val="1E293B"/>
                </a:solidFill>
                <a:latin typeface="Arial"/>
              </a:defRPr>
            </a:pPr>
            <a:r>
              <a:t>01. Event Impact Unquantified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No system exists to forecast congestion duration or severity before an event occurs.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3108960"/>
            <a:ext cx="438912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949440" y="3108960"/>
            <a:ext cx="109728" cy="1280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23760" y="3246120"/>
            <a:ext cx="402336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 i="0">
                <a:solidFill>
                  <a:srgbClr val="1E293B"/>
                </a:solidFill>
                <a:latin typeface="Arial"/>
              </a:defRPr>
            </a:pPr>
            <a:r>
              <a:t>02. Experience-Driven Resources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Deployment of police officers and barricades is handled ad-hoc based on personal experience.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4572000"/>
            <a:ext cx="438912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949440" y="4572000"/>
            <a:ext cx="109728" cy="1280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23760" y="4709160"/>
            <a:ext cx="402336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1" i="0">
                <a:solidFill>
                  <a:srgbClr val="1E293B"/>
                </a:solidFill>
                <a:latin typeface="Arial"/>
              </a:defRPr>
            </a:pPr>
            <a:r>
              <a:t>03. No Post-Event Feedback Loop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No structured mechanism to evaluate prediction accuracy and capture ground truth outcomes.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2563EB"/>
                </a:solidFill>
                <a:latin typeface="Arial"/>
              </a:defRPr>
            </a:pPr>
            <a:r>
              <a:t>GRID UNLOCK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 i="0">
                <a:solidFill>
                  <a:srgbClr val="1E293B"/>
                </a:solidFill>
                <a:latin typeface="Arial"/>
              </a:defRPr>
            </a:pPr>
            <a:r>
              <a:t>End-to-End Predict &amp; Command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1920240" cy="29260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920240" cy="7315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737360" cy="43088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38BDF8"/>
                </a:solidFill>
                <a:latin typeface="Arial"/>
              </a:defRPr>
            </a:pPr>
            <a:r>
              <a:rPr dirty="0">
                <a:solidFill>
                  <a:schemeClr val="accent1">
                    <a:lumMod val="50000"/>
                  </a:schemeClr>
                </a:solidFill>
              </a:rPr>
              <a:t>01 | RAW INPUT 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173736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0" i="0">
                <a:solidFill>
                  <a:srgbClr val="1E293B"/>
                </a:solidFill>
                <a:latin typeface="Arial"/>
              </a:defRPr>
            </a:pPr>
            <a:r>
              <a:t>Simulated or Real-Time streams (Bing Maps / TomTom Traffic API). Captured parameters: location, temporal attributes, event cause &amp; size.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3520440"/>
            <a:ext cx="228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800" b="0" i="0">
                <a:solidFill>
                  <a:srgbClr val="2563EB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2194560"/>
            <a:ext cx="1920240" cy="29260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80360" y="2194560"/>
            <a:ext cx="1920240" cy="7315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86000"/>
            <a:ext cx="1737360" cy="43088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38BDF8"/>
                </a:solidFill>
                <a:latin typeface="Arial"/>
              </a:defRPr>
            </a:pPr>
            <a:r>
              <a:rPr dirty="0">
                <a:solidFill>
                  <a:schemeClr val="accent1">
                    <a:lumMod val="50000"/>
                  </a:schemeClr>
                </a:solidFill>
              </a:rPr>
              <a:t>02 | SPATIAL CONTEXT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3017520"/>
            <a:ext cx="173736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0" i="0">
                <a:solidFill>
                  <a:srgbClr val="1E293B"/>
                </a:solidFill>
                <a:latin typeface="Arial"/>
              </a:defRPr>
            </a:pPr>
            <a:r>
              <a:t>Remaps coordinates to the nearest of 147 corridors. Retrieves zone, junction names, and evolutionarily critical corridor attributes.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520440"/>
            <a:ext cx="228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800" b="0" i="0">
                <a:solidFill>
                  <a:srgbClr val="2563EB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2194560"/>
            <a:ext cx="1920240" cy="29260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0" y="2194560"/>
            <a:ext cx="1920240" cy="7315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0" y="2286000"/>
            <a:ext cx="1737360" cy="43088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38BDF8"/>
                </a:solidFill>
                <a:latin typeface="Arial"/>
              </a:defRPr>
            </a:pPr>
            <a:r>
              <a:rPr dirty="0">
                <a:solidFill>
                  <a:schemeClr val="accent1">
                    <a:lumMod val="50000"/>
                  </a:schemeClr>
                </a:solidFill>
              </a:rPr>
              <a:t>03 | MULTI-MODEL 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017520"/>
            <a:ext cx="173736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0" i="0">
                <a:solidFill>
                  <a:srgbClr val="1E293B"/>
                </a:solidFill>
                <a:latin typeface="Arial"/>
              </a:defRPr>
            </a:pPr>
            <a:r>
              <a:t>Passes properties to 6 synchronized ML Models (Random Forests) to classify severity, estimate duration bucket, and calculate resource counts.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3520440"/>
            <a:ext cx="228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800" b="0" i="0">
                <a:solidFill>
                  <a:srgbClr val="2563EB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78040" y="2194560"/>
            <a:ext cx="1920240" cy="29260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178040" y="2194560"/>
            <a:ext cx="1920240" cy="7315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69480" y="2286000"/>
            <a:ext cx="1737360" cy="43088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38BDF8"/>
                </a:solidFill>
                <a:latin typeface="Arial"/>
              </a:defRPr>
            </a:pPr>
            <a:r>
              <a:rPr>
                <a:solidFill>
                  <a:schemeClr val="accent1">
                    <a:lumMod val="50000"/>
                  </a:schemeClr>
                </a:solidFill>
              </a:rPr>
              <a:t>04 | DIVERSION PLANNING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017520"/>
            <a:ext cx="173736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0" i="0">
                <a:solidFill>
                  <a:srgbClr val="1E293B"/>
                </a:solidFill>
                <a:latin typeface="Arial"/>
              </a:defRPr>
            </a:pPr>
            <a:r>
              <a:t>Extracts zone traffic capacity, triggers diversion routing rules, calculates alternate route segments, and designs closure schedules.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520440"/>
            <a:ext cx="228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800" b="0" i="0">
                <a:solidFill>
                  <a:srgbClr val="2563EB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26880" y="2194560"/>
            <a:ext cx="1920240" cy="29260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326880" y="2194560"/>
            <a:ext cx="1920240" cy="7315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18320" y="2286000"/>
            <a:ext cx="1737360" cy="43088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38BDF8"/>
                </a:solidFill>
                <a:latin typeface="Arial"/>
              </a:defRPr>
            </a:pPr>
            <a:r>
              <a:rPr>
                <a:solidFill>
                  <a:schemeClr val="accent1">
                    <a:lumMod val="50000"/>
                  </a:schemeClr>
                </a:solidFill>
              </a:rPr>
              <a:t>05 | COMMAND 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3017520"/>
            <a:ext cx="173736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0" i="0">
                <a:solidFill>
                  <a:srgbClr val="1E293B"/>
                </a:solidFill>
                <a:latin typeface="Arial"/>
              </a:defRPr>
            </a:pPr>
            <a:r>
              <a:t>Presents real-time telemetry, map visualizations, deployment plan details, and enables ground truth feedback submission.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200" b="0" i="1">
                <a:solidFill>
                  <a:srgbClr val="64748B"/>
                </a:solidFill>
                <a:latin typeface="Arial"/>
              </a:defRPr>
            </a:pPr>
            <a:r>
              <a:t>Fully automated, closed-loop telemetry flow supporting millisecond-latency inference.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2563EB"/>
                </a:solidFill>
                <a:latin typeface="Arial"/>
              </a:defRPr>
            </a:pPr>
            <a:r>
              <a:t>GRID UNLOCK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 i="0">
                <a:solidFill>
                  <a:srgbClr val="1E293B"/>
                </a:solidFill>
                <a:latin typeface="Arial"/>
              </a:defRPr>
            </a:pPr>
            <a:r>
              <a:t>Data Processing &amp; Corridor Expansion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94360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200"/>
              </a:spcAft>
              <a:defRPr sz="2000" b="1" i="0">
                <a:solidFill>
                  <a:srgbClr val="2563EB"/>
                </a:solidFill>
                <a:latin typeface="Arial"/>
              </a:defRPr>
            </a:pPr>
            <a:r>
              <a:t>Scaling from 22 to 147 Mapped Corridors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Challenge: Originally, only 22 named corridors were mapped. More than 6,000 traffic events occurred on roads not recognized by the prediction engine, falling into a generic bucket.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Address-Based Extraction: Designed a Python processing pipeline that extracts the first two comma-separated segments from raw address fields, identifying 562 unique road name candidates.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Filtering &amp; Deduplication: Selected roads with 5+ events (retaining 125 roads) and consolidated misspelled strings (e.g. 'Bannerghatta Main' &amp; 'Bannerghata Main Rd').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• Spatial Mapping: Assigned coordinate centroids and graph nodes to all new corridors. Retrained all ML models with the expanded dataset.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11480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0" y="1783080"/>
            <a:ext cx="37490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3200" b="1" i="0">
                <a:solidFill>
                  <a:srgbClr val="2563EB"/>
                </a:solidFill>
                <a:latin typeface="Arial"/>
              </a:defRPr>
            </a:pPr>
            <a:r>
              <a:t>147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0" y="2240280"/>
            <a:ext cx="374904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200" b="1" i="0">
                <a:solidFill>
                  <a:srgbClr val="1E293B"/>
                </a:solidFill>
                <a:latin typeface="Arial"/>
              </a:defRPr>
            </a:pPr>
            <a:r>
              <a:t>Total Supported Corridors (21 Named + 125 Extracted + 1 Fallback)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108960"/>
            <a:ext cx="411480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0" y="3246120"/>
            <a:ext cx="37490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3200" b="1" i="0">
                <a:solidFill>
                  <a:srgbClr val="2563EB"/>
                </a:solidFill>
                <a:latin typeface="Arial"/>
              </a:defRPr>
            </a:pPr>
            <a:r>
              <a:t>7,532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0" y="3703320"/>
            <a:ext cx="374904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200" b="1" i="0">
                <a:solidFill>
                  <a:srgbClr val="1E293B"/>
                </a:solidFill>
                <a:latin typeface="Arial"/>
              </a:defRPr>
            </a:pPr>
            <a:r>
              <a:t>Total Processed Dataset Rows (Model training records with spatial coordinate contexts)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4572000"/>
            <a:ext cx="411480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0" y="4709160"/>
            <a:ext cx="37490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3200" b="1" i="0">
                <a:solidFill>
                  <a:srgbClr val="2563EB"/>
                </a:solidFill>
                <a:latin typeface="Arial"/>
              </a:defRPr>
            </a:pPr>
            <a:r>
              <a:t>6 Modules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5166360"/>
            <a:ext cx="374904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200" b="1" i="0">
                <a:solidFill>
                  <a:srgbClr val="1E293B"/>
                </a:solidFill>
                <a:latin typeface="Arial"/>
              </a:defRPr>
            </a:pPr>
            <a:r>
              <a:t>Remapped in Codebase (Spatial, routing, optimization, resolver, retraining, server)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2563EB"/>
                </a:solidFill>
                <a:latin typeface="Arial"/>
              </a:defRPr>
            </a:pPr>
            <a:r>
              <a:t>GRID UNLOCK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 i="0">
                <a:solidFill>
                  <a:srgbClr val="1E293B"/>
                </a:solidFill>
                <a:latin typeface="Arial"/>
              </a:defRPr>
            </a:pPr>
            <a:r>
              <a:t>The Machine Learning Modeling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0" i="0">
                <a:solidFill>
                  <a:srgbClr val="1E293B"/>
                </a:solidFill>
                <a:latin typeface="Arial"/>
              </a:defRPr>
            </a:pPr>
            <a:r>
              <a:t>A multi-target modeling paradigm built on Scikit-Learn pipelines. Instead of a single model attempting to predict complex categorical labels and numeric resource counts simultaneously, we deploy 6 specialized Random Forest models working in parallel.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5120640" cy="36576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4572000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400"/>
              </a:spcAft>
              <a:defRPr sz="1800" b="1" i="0">
                <a:solidFill>
                  <a:srgbClr val="2563EB"/>
                </a:solidFill>
                <a:latin typeface="Arial"/>
              </a:defRPr>
            </a:pPr>
            <a:r>
              <a:t>Core Classification Suite (3 Models)</a:t>
            </a:r>
          </a:p>
          <a:p>
            <a:pPr>
              <a:spcAft>
                <a:spcPts val="1000"/>
              </a:spcAft>
              <a:defRPr sz="1300" b="1">
                <a:solidFill>
                  <a:srgbClr val="1E293B"/>
                </a:solidFill>
              </a:defRPr>
            </a:pPr>
            <a:r>
              <a:t>• Severity Classifier: </a:t>
            </a:r>
            <a:r>
              <a:rPr b="0"/>
              <a:t>Predicts Low / Medium / High event severity class (76.3% Accuracy). Uses temporal and cause data, avoiding circular target logic.</a:t>
            </a:r>
          </a:p>
          <a:p>
            <a:pPr>
              <a:spcAft>
                <a:spcPts val="1000"/>
              </a:spcAft>
              <a:defRPr sz="1300" b="1">
                <a:solidFill>
                  <a:srgbClr val="1E293B"/>
                </a:solidFill>
              </a:defRPr>
            </a:pPr>
            <a:r>
              <a:t>• Duration Classifier: </a:t>
            </a:r>
            <a:r>
              <a:rPr b="0"/>
              <a:t>3-class classifier: short (&lt;1h), medium (1h-12h), extended (&gt;12h) (56.9% accuracy). Trained only on non-imputed actual duration logs.</a:t>
            </a:r>
          </a:p>
          <a:p>
            <a:pPr>
              <a:spcAft>
                <a:spcPts val="1000"/>
              </a:spcAft>
              <a:defRPr sz="1300" b="1">
                <a:solidFill>
                  <a:srgbClr val="1E293B"/>
                </a:solidFill>
              </a:defRPr>
            </a:pPr>
            <a:r>
              <a:t>• Road Closure Classifier: </a:t>
            </a:r>
            <a:r>
              <a:rPr b="0"/>
              <a:t>Binary classifier predicting whether a corridor closure is required (84.6% accuracy). Takes temporal, location, and duration inputs.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468880"/>
            <a:ext cx="5120640" cy="36576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2743200"/>
            <a:ext cx="4572000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400"/>
              </a:spcAft>
              <a:defRPr sz="1800" b="1" i="0">
                <a:solidFill>
                  <a:srgbClr val="0F172A"/>
                </a:solidFill>
                <a:latin typeface="Arial"/>
              </a:defRPr>
            </a:pPr>
            <a:r>
              <a:t>Resource Optimization Suite (3 Regressors)</a:t>
            </a:r>
          </a:p>
          <a:p>
            <a:pPr>
              <a:spcAft>
                <a:spcPts val="1000"/>
              </a:spcAft>
              <a:defRPr sz="1300" b="1">
                <a:solidFill>
                  <a:srgbClr val="1E293B"/>
                </a:solidFill>
              </a:defRPr>
            </a:pPr>
            <a:r>
              <a:t>• Officer Count Regressor: </a:t>
            </a:r>
            <a:r>
              <a:rPr b="0"/>
              <a:t>Estimates police officers required. Trained on feedback logs. Adapts from rule-based baseline to actual resource deployments (MAE = 2.33).</a:t>
            </a:r>
          </a:p>
          <a:p>
            <a:pPr>
              <a:spcAft>
                <a:spcPts val="1000"/>
              </a:spcAft>
              <a:defRPr sz="1300" b="1">
                <a:solidFill>
                  <a:srgbClr val="1E293B"/>
                </a:solidFill>
              </a:defRPr>
            </a:pPr>
            <a:r>
              <a:t>• Barricade Count Regressor: </a:t>
            </a:r>
            <a:r>
              <a:rPr b="0"/>
              <a:t>Predicts number of physical road barricades to dispatch to key deployment coordinates (MAE = 1.74).</a:t>
            </a:r>
          </a:p>
          <a:p>
            <a:pPr>
              <a:spcAft>
                <a:spcPts val="1000"/>
              </a:spcAft>
              <a:defRPr sz="1300" b="1">
                <a:solidFill>
                  <a:srgbClr val="1E293B"/>
                </a:solidFill>
              </a:defRPr>
            </a:pPr>
            <a:r>
              <a:t>• Patrol Vehicle Regressor: </a:t>
            </a:r>
            <a:r>
              <a:rPr b="0"/>
              <a:t>Forecasts optimal patrol vehicles needed for corridor monitoring and diversion management (MAE = 0.68).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2563EB"/>
                </a:solidFill>
                <a:latin typeface="Arial"/>
              </a:defRPr>
            </a:pPr>
            <a:r>
              <a:t>GRID UNLOCK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 i="0">
                <a:solidFill>
                  <a:srgbClr val="1E293B"/>
                </a:solidFill>
                <a:latin typeface="Arial"/>
              </a:defRPr>
            </a:pPr>
            <a:r>
              <a:t>ML Detail: Severity Classification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94360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  <a:defRPr sz="1800" b="1" i="0">
                <a:solidFill>
                  <a:srgbClr val="2563EB"/>
                </a:solidFill>
                <a:latin typeface="Arial"/>
              </a:defRPr>
            </a:pPr>
            <a:r>
              <a:t>Pipeline Architecture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Model Type: Random Forest Classifier</a:t>
            </a:r>
            <a:br/>
            <a:r>
              <a:t>• Parameters: 250 Estimators, Max Depth = 12, Class Weight = 'balanced'.</a:t>
            </a:r>
            <a:br/>
            <a:r>
              <a:t>• Feature Preprocessing: Implemented a scikit-learn ColumnTransformer executing Median Imputation on numeric columns, Most-Frequent Imputation on categorical columns, and One-Hot Encoding for string states.</a:t>
            </a:r>
          </a:p>
          <a:p>
            <a:pPr>
              <a:spcAft>
                <a:spcPts val="1000"/>
              </a:spcAft>
              <a:defRPr sz="1800" b="1">
                <a:solidFill>
                  <a:srgbClr val="2563EB"/>
                </a:solidFill>
              </a:defRPr>
            </a:pPr>
            <a:r>
              <a:t>Feature Matrix (Inference Inputs)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Categorical Features: event_cause, corridor, zone, police_station, veh_type</a:t>
            </a:r>
            <a:br/>
            <a:r>
              <a:t>• Numeric Features: latitude, longitude, hour, day_of_week, month, is_weekend, expected_attendance</a:t>
            </a:r>
          </a:p>
          <a:p>
            <a:pPr>
              <a:spcAft>
                <a:spcPts val="600"/>
              </a:spcAft>
              <a:defRPr sz="1500" b="1">
                <a:solidFill>
                  <a:srgbClr val="1E293B"/>
                </a:solidFill>
              </a:defRPr>
            </a:pPr>
            <a:r>
              <a:t>Feature Exclusion (Preventing Leakage)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road_closure, priority, and duration_hours are excluded to prevent leakage, as severity labels are mathematically derived from them. This ensures the model learns real spatial-temporal event patterns.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645920"/>
            <a:ext cx="4297680" cy="41148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0" y="2103120"/>
            <a:ext cx="356616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7200" b="1" i="0">
                <a:solidFill>
                  <a:srgbClr val="38BDF8"/>
                </a:solidFill>
                <a:latin typeface="Arial"/>
              </a:defRPr>
            </a:pPr>
            <a:r>
              <a:t>76.3%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0" y="3200400"/>
            <a:ext cx="35661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t>Severity Classification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3840480"/>
            <a:ext cx="356616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Classification Report Breakdown:</a:t>
            </a:r>
            <a:br/>
            <a:br/>
            <a:r>
              <a:t>• Low Severity: Precision = 82% | Recall = 78%</a:t>
            </a:r>
            <a:br/>
            <a:r>
              <a:t>• Medium Severity: Precision = 71% | Recall = 74%</a:t>
            </a:r>
            <a:br/>
            <a:r>
              <a:t>• High Severity: Precision = 79% | Recall = 79%</a:t>
            </a:r>
            <a:br/>
            <a:br/>
            <a:r>
              <a:t>Stratified Train-Test split (80-20) over 7,532 records.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2563EB"/>
                </a:solidFill>
                <a:latin typeface="Arial"/>
              </a:defRPr>
            </a:pPr>
            <a:r>
              <a:t>GRID UNLOCK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 i="0">
                <a:solidFill>
                  <a:srgbClr val="1E293B"/>
                </a:solidFill>
                <a:latin typeface="Arial"/>
              </a:defRPr>
            </a:pPr>
            <a:r>
              <a:t>ML Detail: Road Closure &amp; Duration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400"/>
              </a:spcAft>
              <a:defRPr sz="2000" b="1" i="0">
                <a:solidFill>
                  <a:srgbClr val="2563EB"/>
                </a:solidFill>
                <a:latin typeface="Arial"/>
              </a:defRPr>
            </a:pPr>
            <a:r>
              <a:t>Road Closure Prediction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Model Type: Random Forest Classifier (Binary)</a:t>
            </a:r>
            <a:br/>
            <a:r>
              <a:t>• Target: 0 (No road closure) or 1 (Road closure required)</a:t>
            </a:r>
            <a:br/>
            <a:r>
              <a:t>• Parameters: 250 Estimators, Max Depth = 12, Class Weight = 'balanced'.</a:t>
            </a:r>
            <a:br/>
            <a:r>
              <a:t>• Features Included: Base features plus predicted event duration hours.</a:t>
            </a:r>
          </a:p>
          <a:p>
            <a:pPr>
              <a:spcAft>
                <a:spcPts val="800"/>
              </a:spcAft>
              <a:defRPr sz="1500" b="1">
                <a:solidFill>
                  <a:srgbClr val="1E293B"/>
                </a:solidFill>
              </a:defRPr>
            </a:pPr>
            <a:r>
              <a:t>Performance Metric: 84.6% Accuracy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High precision on road closure classification prevents unnecessary traffic alerts. Balanced class weighting corrects the heavily skewed training distribution.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5720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400"/>
              </a:spcAft>
              <a:defRPr sz="2000" b="1" i="0">
                <a:solidFill>
                  <a:srgbClr val="0F172A"/>
                </a:solidFill>
                <a:latin typeface="Arial"/>
              </a:defRPr>
            </a:pPr>
            <a:r>
              <a:t>Duration Bucket Classifier</a:t>
            </a:r>
          </a:p>
          <a:p>
            <a:pPr>
              <a:spcAft>
                <a:spcPts val="1400"/>
              </a:spcAft>
              <a:defRPr sz="1300">
                <a:solidFill>
                  <a:srgbClr val="1E293B"/>
                </a:solidFill>
              </a:defRPr>
            </a:pPr>
            <a:r>
              <a:t>• Model Type: Random Forest Classifier (3-class)</a:t>
            </a:r>
            <a:br/>
            <a:r>
              <a:t>• Classes: short (&lt;1h) / medium (1h-12h) / extended (&gt;12h)</a:t>
            </a:r>
            <a:br/>
            <a:r>
              <a:t>• Non-Imputed Training: Imputed duration records (80% of historical rows, set to a default 8.12h median) were completely stripped to prevent bias. Trained strictly on known, high-quality records.</a:t>
            </a:r>
            <a:br/>
            <a:r>
              <a:t>• Fallback logic: VIP and public event classes automatically default to rule-based baselines as they lacked raw duration entries.</a:t>
            </a:r>
          </a:p>
          <a:p>
            <a:pPr>
              <a:spcAft>
                <a:spcPts val="800"/>
              </a:spcAft>
              <a:defRPr sz="1500" b="1">
                <a:solidFill>
                  <a:srgbClr val="1E293B"/>
                </a:solidFill>
              </a:defRPr>
            </a:pPr>
            <a:r>
              <a:t>Performance Metric: 56.9% Accuracy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Low overall accuracy is a trade-off for zero bias. Training strictly on non-imputed actuals ensures the model learns true duration boundaries.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2563EB"/>
                </a:solidFill>
                <a:latin typeface="Arial"/>
              </a:defRPr>
            </a:pPr>
            <a:r>
              <a:t>GRID UNLOCK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 i="0">
                <a:solidFill>
                  <a:srgbClr val="1E293B"/>
                </a:solidFill>
                <a:latin typeface="Arial"/>
              </a:defRPr>
            </a:pPr>
            <a:r>
              <a:t>ML Detail: Resource Regressor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500" b="0" i="0">
                <a:solidFill>
                  <a:srgbClr val="1E293B"/>
                </a:solidFill>
                <a:latin typeface="Arial"/>
              </a:defRPr>
            </a:pPr>
            <a:r>
              <a:t>Resource allocation is modeled by 3 Random Forest Regressors, which predict the number of officers, barricades, and patrol vehicles needed. The regressors adapt dynamically based on historical feedback logs.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3383280" cy="36576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2834640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  <a:defRPr sz="1200" b="1" i="0">
                <a:solidFill>
                  <a:srgbClr val="1E293B"/>
                </a:solidFill>
                <a:latin typeface="Arial"/>
              </a:defRPr>
            </a:pPr>
            <a:r>
              <a:t>Officer Regressor</a:t>
            </a:r>
            <a:br/>
            <a:r>
              <a:t>• Mean Absolute Error: 2.33</a:t>
            </a:r>
            <a:br/>
            <a:r>
              <a:t>• Key Features: predicted_severity_score, expected_attendance, requires_road_closure, event_cause</a:t>
            </a:r>
            <a:br/>
            <a:r>
              <a:t>• Optimization target: Predicts number of physical officers required at the deployment centroid. Prevents under-staffing at high-impact rallies.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468880"/>
            <a:ext cx="3383280" cy="36576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2743200"/>
            <a:ext cx="2834640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  <a:defRPr sz="1200" b="1" i="0">
                <a:solidFill>
                  <a:srgbClr val="1E293B"/>
                </a:solidFill>
                <a:latin typeface="Arial"/>
              </a:defRPr>
            </a:pPr>
            <a:r>
              <a:t>Barricade Regressor</a:t>
            </a:r>
            <a:br/>
            <a:r>
              <a:t>• Mean Absolute Error: 1.74</a:t>
            </a:r>
            <a:br/>
            <a:r>
              <a:t>• Key Features: requires_road_closure, priority, event_cause, zone</a:t>
            </a:r>
            <a:br/>
            <a:r>
              <a:t>• Optimization target: Estimates barricades required to construct diversion checkpoints. Heavy event causes (VIP movement/protest) scale barricade counts drastically.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468880"/>
            <a:ext cx="3383280" cy="36576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0" y="2743200"/>
            <a:ext cx="2834640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  <a:defRPr sz="1200" b="1" i="0">
                <a:solidFill>
                  <a:srgbClr val="1E293B"/>
                </a:solidFill>
                <a:latin typeface="Arial"/>
              </a:defRPr>
            </a:pPr>
            <a:r>
              <a:t>Patrol Regressor</a:t>
            </a:r>
            <a:br/>
            <a:r>
              <a:t>• Mean Absolute Error: 0.68</a:t>
            </a:r>
            <a:br/>
            <a:r>
              <a:t>• Key Features: predicted_severity_score, corridor, priority, day_of_week</a:t>
            </a:r>
            <a:br/>
            <a:r>
              <a:t>• Optimization target: Models patrol vehicle deployments for active road monitoring. Ensures patrol dispatch occurs within 0.7 units of true ground truth.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2563EB"/>
                </a:solidFill>
                <a:latin typeface="Arial"/>
              </a:defRPr>
            </a:pPr>
            <a:r>
              <a:t>GRID UNLOCK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2800" b="1" i="0">
                <a:solidFill>
                  <a:srgbClr val="1E293B"/>
                </a:solidFill>
                <a:latin typeface="Arial"/>
              </a:defRPr>
            </a:pPr>
            <a:r>
              <a:t>Closed-Loop Feedback &amp; Continuous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94360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200"/>
              </a:spcAft>
              <a:defRPr sz="2000" b="1" i="0">
                <a:solidFill>
                  <a:srgbClr val="2563EB"/>
                </a:solidFill>
                <a:latin typeface="Arial"/>
              </a:defRPr>
            </a:pPr>
            <a:r>
              <a:t>Bridging the Post-Event Learning Gap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Telemetry Ingestion: Predictions are initially logged in outputs/event_feedback_log.csv. When an event concludes, field officers enter actual ground truth values directly through the dashboard UI.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Automated Pipeline: The UI triggers /api/retrain, which combines historical training records with user-submitted ground truth rows, building a unified training matrix (outputs/retraining_dataset.csv).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Triggered Re-fitting: Calling /api/retrain_resource_model compiles features, executes column transformation, and re-trains the 3 Random Forest Regressors on the new data, instantly saving updated models to outputs/models/.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Dynamic Adaptation: Over time, the model shifts its weights from static pre-configured rules to the actual resource numbers deployed on the streets of Bangalore.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645920"/>
            <a:ext cx="4297680" cy="4389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132320" y="1645920"/>
            <a:ext cx="429768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0" y="1737360"/>
            <a:ext cx="39319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t>THE CONTINUOUS FEEDBACK LOOP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2468880"/>
            <a:ext cx="3749040" cy="7315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0" y="2542032"/>
            <a:ext cx="3566160" cy="40780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38BDF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  <a:lumOff val="5000"/>
                  </a:schemeClr>
                </a:solidFill>
              </a:rPr>
              <a:t>1. ML Prediction Core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rPr>
                <a:solidFill>
                  <a:schemeClr val="tx1">
                    <a:lumMod val="95000"/>
                    <a:lumOff val="5000"/>
                  </a:schemeClr>
                </a:solidFill>
              </a:rPr>
              <a:t>Models predict severity, duration, and baseline resource needs.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3291840"/>
            <a:ext cx="3749040" cy="7315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0" y="3364992"/>
            <a:ext cx="3566160" cy="40780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38BDF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  <a:lumOff val="5000"/>
                  </a:schemeClr>
                </a:solidFill>
              </a:rPr>
              <a:t>2. Field Action &amp; Telemetry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rPr>
                <a:solidFill>
                  <a:schemeClr val="tx1">
                    <a:lumMod val="95000"/>
                    <a:lumOff val="5000"/>
                  </a:schemeClr>
                </a:solidFill>
              </a:rPr>
              <a:t>Police deployment occurs based on recommendations.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4114800"/>
            <a:ext cx="3749040" cy="7315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0" y="4187952"/>
            <a:ext cx="3566160" cy="40780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38BDF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  <a:lumOff val="5000"/>
                  </a:schemeClr>
                </a:solidFill>
              </a:rPr>
              <a:t>3. Ground Truth Submission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rPr>
                <a:solidFill>
                  <a:schemeClr val="tx1">
                    <a:lumMod val="95000"/>
                    <a:lumOff val="5000"/>
                  </a:schemeClr>
                </a:solidFill>
              </a:rPr>
              <a:t>Actual officers, barricades, and duration logged via UI.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4937760"/>
            <a:ext cx="3749040" cy="7315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0" y="5010912"/>
            <a:ext cx="3566160" cy="40780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1" i="0">
                <a:solidFill>
                  <a:srgbClr val="38BDF8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4. Re-fit Pipeline Execution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Models are re-fitted, updating regression weights.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601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40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accent1">
                    <a:lumMod val="50000"/>
                  </a:schemeClr>
                </a:solidFill>
              </a:rPr>
              <a:t>Predict. Deploy. Learn.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94560"/>
            <a:ext cx="96012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800" b="0" i="1">
                <a:solidFill>
                  <a:srgbClr val="64748B"/>
                </a:solidFill>
                <a:latin typeface="Arial"/>
              </a:defRPr>
            </a:pPr>
            <a:r>
              <a:t>Grid Unlock Command transforms reactive traffic incident management into a proactive, data-driven command ecosystem. By expanding spatial-temporal resolution to 147 corridors and running 6 parallel ML models, BTP officers are empowered to preempt traffic breakdowns.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474720"/>
            <a:ext cx="4389120" cy="201168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80" y="3657600"/>
            <a:ext cx="4023360" cy="77970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 i="0">
                <a:solidFill>
                  <a:srgbClr val="38BDF8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PROACTIVE DISPATCH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Predicts exact officer, patrol, and barricade counts per corridor. Optimizes logistics and prevents over-deployment.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474720"/>
            <a:ext cx="4389120" cy="201168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3657600"/>
            <a:ext cx="4023360" cy="77970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400" b="1" i="0">
                <a:solidFill>
                  <a:srgbClr val="38BDF8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CLOSED-LOOP EVOLUTION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Models continuously retrain from field feedback. The software adapts to the changing patterns of Bangalore's congestion.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760720"/>
            <a:ext cx="9601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t>Keep Bengaluru Moving  |  Grid Unlock Command Center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Words>1686</Words>
  <Application>Microsoft Office PowerPoint</Application>
  <PresentationFormat>Widescreen</PresentationFormat>
  <Paragraphs>107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Sabarishh Parthasarathy</cp:lastModifiedBy>
  <cp:revision>3</cp:revision>
  <dcterms:created xsi:type="dcterms:W3CDTF">2013-01-27T09:14:16Z</dcterms:created>
  <dcterms:modified xsi:type="dcterms:W3CDTF">2026-06-21T17:22:39Z</dcterms:modified>
  <cp:category/>
</cp:coreProperties>
</file>